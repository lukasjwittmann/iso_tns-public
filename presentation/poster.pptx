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7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59EE"/>
    <a:srgbClr val="B0B0B0"/>
    <a:srgbClr val="2856C1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18"/>
    <p:restoredTop sz="94699"/>
  </p:normalViewPr>
  <p:slideViewPr>
    <p:cSldViewPr snapToGrid="0">
      <p:cViewPr>
        <p:scale>
          <a:sx n="16" d="100"/>
          <a:sy n="16" d="100"/>
        </p:scale>
        <p:origin x="4400" y="992"/>
      </p:cViewPr>
      <p:guideLst/>
    </p:cSldViewPr>
  </p:slideViewPr>
  <p:notesTextViewPr>
    <p:cViewPr>
      <p:scale>
        <a:sx n="35" d="100"/>
        <a:sy n="3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BCACA-3F37-1546-8344-640ABE270CD0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ADAF2-F715-BB4E-A1DA-FE3F0A4BD7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3114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755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510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40265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7020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3776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80531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7286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4041" algn="l" defTabSz="1293510" rtl="0" eaLnBrk="1" latinLnBrk="0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3AB6D-0E89-C47C-C2F9-840FF53DF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10EE52E-AE7D-82CA-AB2E-33723EC16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88181F3-F70E-42C6-0BDF-6EA11B805F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CB4A6FA-0F5E-82AC-C6C4-3730169B44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DAF2-F715-BB4E-A1DA-FE3F0A4BD783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9847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5923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8169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821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917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58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2688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6932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9638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1814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8832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3275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EFEC43-C7AE-154D-8D7D-DCF4754CCCDB}" type="datetimeFigureOut">
              <a:rPr lang="de-DE" smtClean="0"/>
              <a:t>05.01.26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7286E7-8ACA-DD4C-BD96-00D9C87667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465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jpeg"/><Relationship Id="rId21" Type="http://schemas.openxmlformats.org/officeDocument/2006/relationships/image" Target="../media/image19.jpe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16" Type="http://schemas.openxmlformats.org/officeDocument/2006/relationships/image" Target="../media/image14.png"/><Relationship Id="rId11" Type="http://schemas.openxmlformats.org/officeDocument/2006/relationships/image" Target="../media/image9.jpeg"/><Relationship Id="rId32" Type="http://schemas.openxmlformats.org/officeDocument/2006/relationships/image" Target="../media/image30.jpeg"/><Relationship Id="rId37" Type="http://schemas.openxmlformats.org/officeDocument/2006/relationships/image" Target="../media/image35.png"/><Relationship Id="rId53" Type="http://schemas.openxmlformats.org/officeDocument/2006/relationships/image" Target="../media/image51.jpeg"/><Relationship Id="rId58" Type="http://schemas.openxmlformats.org/officeDocument/2006/relationships/image" Target="../media/image56.jpeg"/><Relationship Id="rId74" Type="http://schemas.openxmlformats.org/officeDocument/2006/relationships/hyperlink" Target="https://arxiv.org/abs/2507.08080" TargetMode="External"/><Relationship Id="rId79" Type="http://schemas.openxmlformats.org/officeDocument/2006/relationships/image" Target="../media/image72.png"/><Relationship Id="rId5" Type="http://schemas.openxmlformats.org/officeDocument/2006/relationships/image" Target="../media/image3.jpeg"/><Relationship Id="rId61" Type="http://schemas.openxmlformats.org/officeDocument/2006/relationships/image" Target="../media/image59.jpeg"/><Relationship Id="rId19" Type="http://schemas.openxmlformats.org/officeDocument/2006/relationships/image" Target="../media/image17.jpeg"/><Relationship Id="rId14" Type="http://schemas.openxmlformats.org/officeDocument/2006/relationships/image" Target="../media/image12.png"/><Relationship Id="rId22" Type="http://schemas.openxmlformats.org/officeDocument/2006/relationships/image" Target="../media/image20.jpeg"/><Relationship Id="rId27" Type="http://schemas.openxmlformats.org/officeDocument/2006/relationships/image" Target="../media/image25.jpeg"/><Relationship Id="rId30" Type="http://schemas.openxmlformats.org/officeDocument/2006/relationships/image" Target="../media/image28.jpeg"/><Relationship Id="rId35" Type="http://schemas.openxmlformats.org/officeDocument/2006/relationships/image" Target="../media/image33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56" Type="http://schemas.openxmlformats.org/officeDocument/2006/relationships/image" Target="../media/image54.jpeg"/><Relationship Id="rId64" Type="http://schemas.openxmlformats.org/officeDocument/2006/relationships/image" Target="../media/image62.png"/><Relationship Id="rId69" Type="http://schemas.openxmlformats.org/officeDocument/2006/relationships/image" Target="../media/image67.jpeg"/><Relationship Id="rId77" Type="http://schemas.openxmlformats.org/officeDocument/2006/relationships/image" Target="../media/image70.png"/><Relationship Id="rId8" Type="http://schemas.openxmlformats.org/officeDocument/2006/relationships/image" Target="../media/image6.jpeg"/><Relationship Id="rId51" Type="http://schemas.openxmlformats.org/officeDocument/2006/relationships/image" Target="../media/image49.png"/><Relationship Id="rId72" Type="http://schemas.openxmlformats.org/officeDocument/2006/relationships/hyperlink" Target="https://arxiv.org/abs/1902.05100" TargetMode="External"/><Relationship Id="rId80" Type="http://schemas.openxmlformats.org/officeDocument/2006/relationships/image" Target="../media/image73.png"/><Relationship Id="rId3" Type="http://schemas.openxmlformats.org/officeDocument/2006/relationships/image" Target="../media/image1.jpeg"/><Relationship Id="rId12" Type="http://schemas.openxmlformats.org/officeDocument/2006/relationships/image" Target="../media/image10.jpeg"/><Relationship Id="rId17" Type="http://schemas.openxmlformats.org/officeDocument/2006/relationships/image" Target="../media/image15.png"/><Relationship Id="rId25" Type="http://schemas.openxmlformats.org/officeDocument/2006/relationships/image" Target="../media/image23.jpeg"/><Relationship Id="rId33" Type="http://schemas.openxmlformats.org/officeDocument/2006/relationships/image" Target="../media/image31.jpeg"/><Relationship Id="rId38" Type="http://schemas.openxmlformats.org/officeDocument/2006/relationships/image" Target="../media/image36.png"/><Relationship Id="rId46" Type="http://schemas.openxmlformats.org/officeDocument/2006/relationships/image" Target="../media/image44.png"/><Relationship Id="rId59" Type="http://schemas.openxmlformats.org/officeDocument/2006/relationships/image" Target="../media/image57.jpeg"/><Relationship Id="rId67" Type="http://schemas.openxmlformats.org/officeDocument/2006/relationships/image" Target="../media/image65.jpeg"/><Relationship Id="rId20" Type="http://schemas.openxmlformats.org/officeDocument/2006/relationships/image" Target="../media/image18.jpeg"/><Relationship Id="rId41" Type="http://schemas.openxmlformats.org/officeDocument/2006/relationships/image" Target="../media/image39.png"/><Relationship Id="rId54" Type="http://schemas.openxmlformats.org/officeDocument/2006/relationships/image" Target="../media/image52.jpeg"/><Relationship Id="rId62" Type="http://schemas.openxmlformats.org/officeDocument/2006/relationships/image" Target="../media/image60.jpeg"/><Relationship Id="rId70" Type="http://schemas.openxmlformats.org/officeDocument/2006/relationships/hyperlink" Target="https://arxiv.org/abs/2102.10982" TargetMode="External"/><Relationship Id="rId75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5" Type="http://schemas.openxmlformats.org/officeDocument/2006/relationships/image" Target="../media/image13.png"/><Relationship Id="rId23" Type="http://schemas.openxmlformats.org/officeDocument/2006/relationships/image" Target="../media/image21.jpeg"/><Relationship Id="rId28" Type="http://schemas.openxmlformats.org/officeDocument/2006/relationships/image" Target="../media/image26.jpeg"/><Relationship Id="rId36" Type="http://schemas.openxmlformats.org/officeDocument/2006/relationships/image" Target="../media/image34.png"/><Relationship Id="rId49" Type="http://schemas.openxmlformats.org/officeDocument/2006/relationships/image" Target="../media/image47.jpeg"/><Relationship Id="rId57" Type="http://schemas.openxmlformats.org/officeDocument/2006/relationships/image" Target="../media/image55.jpeg"/><Relationship Id="rId10" Type="http://schemas.openxmlformats.org/officeDocument/2006/relationships/image" Target="../media/image8.jpeg"/><Relationship Id="rId31" Type="http://schemas.openxmlformats.org/officeDocument/2006/relationships/image" Target="../media/image29.jpeg"/><Relationship Id="rId44" Type="http://schemas.openxmlformats.org/officeDocument/2006/relationships/image" Target="../media/image42.png"/><Relationship Id="rId52" Type="http://schemas.openxmlformats.org/officeDocument/2006/relationships/image" Target="../media/image50.png"/><Relationship Id="rId60" Type="http://schemas.openxmlformats.org/officeDocument/2006/relationships/image" Target="../media/image58.jpeg"/><Relationship Id="rId65" Type="http://schemas.openxmlformats.org/officeDocument/2006/relationships/image" Target="../media/image63.png"/><Relationship Id="rId73" Type="http://schemas.openxmlformats.org/officeDocument/2006/relationships/hyperlink" Target="https://arxiv.org/abs/2112.08394" TargetMode="External"/><Relationship Id="rId78" Type="http://schemas.openxmlformats.org/officeDocument/2006/relationships/image" Target="../media/image71.png"/><Relationship Id="rId81" Type="http://schemas.openxmlformats.org/officeDocument/2006/relationships/image" Target="../media/image74.jpeg"/><Relationship Id="rId4" Type="http://schemas.openxmlformats.org/officeDocument/2006/relationships/image" Target="../media/image2.jpeg"/><Relationship Id="rId9" Type="http://schemas.openxmlformats.org/officeDocument/2006/relationships/image" Target="../media/image7.jpeg"/><Relationship Id="rId13" Type="http://schemas.openxmlformats.org/officeDocument/2006/relationships/image" Target="../media/image11.jpeg"/><Relationship Id="rId18" Type="http://schemas.openxmlformats.org/officeDocument/2006/relationships/image" Target="../media/image16.jpeg"/><Relationship Id="rId39" Type="http://schemas.openxmlformats.org/officeDocument/2006/relationships/image" Target="../media/image37.png"/><Relationship Id="rId34" Type="http://schemas.openxmlformats.org/officeDocument/2006/relationships/image" Target="../media/image32.jpeg"/><Relationship Id="rId50" Type="http://schemas.openxmlformats.org/officeDocument/2006/relationships/image" Target="../media/image48.png"/><Relationship Id="rId55" Type="http://schemas.openxmlformats.org/officeDocument/2006/relationships/image" Target="../media/image53.jpeg"/><Relationship Id="rId76" Type="http://schemas.openxmlformats.org/officeDocument/2006/relationships/image" Target="../media/image69.png"/><Relationship Id="rId7" Type="http://schemas.openxmlformats.org/officeDocument/2006/relationships/image" Target="../media/image5.jpeg"/><Relationship Id="rId71" Type="http://schemas.openxmlformats.org/officeDocument/2006/relationships/hyperlink" Target="https://github.com/lukasjwittmann/iso_tns-public" TargetMode="External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jpeg"/><Relationship Id="rId24" Type="http://schemas.openxmlformats.org/officeDocument/2006/relationships/image" Target="../media/image22.jpe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592503-CA09-D28E-36ED-453A6C253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hteck 1029">
            <a:extLst>
              <a:ext uri="{FF2B5EF4-FFF2-40B4-BE49-F238E27FC236}">
                <a16:creationId xmlns:a16="http://schemas.microsoft.com/office/drawing/2014/main" id="{AA401EDD-C140-C9C5-345E-89546F8D0B37}"/>
              </a:ext>
            </a:extLst>
          </p:cNvPr>
          <p:cNvSpPr/>
          <p:nvPr/>
        </p:nvSpPr>
        <p:spPr>
          <a:xfrm>
            <a:off x="910152" y="16493133"/>
            <a:ext cx="28435064" cy="22232410"/>
          </a:xfrm>
          <a:prstGeom prst="rect">
            <a:avLst/>
          </a:prstGeom>
          <a:solidFill>
            <a:schemeClr val="bg1"/>
          </a:solidFill>
          <a:ln w="76200">
            <a:solidFill>
              <a:srgbClr val="2659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95C1B01-6161-BF47-407D-CE9A8E1921D6}"/>
              </a:ext>
            </a:extLst>
          </p:cNvPr>
          <p:cNvSpPr/>
          <p:nvPr/>
        </p:nvSpPr>
        <p:spPr>
          <a:xfrm>
            <a:off x="917606" y="4781739"/>
            <a:ext cx="28440000" cy="11180914"/>
          </a:xfrm>
          <a:prstGeom prst="rect">
            <a:avLst/>
          </a:prstGeom>
          <a:solidFill>
            <a:schemeClr val="bg1"/>
          </a:solidFill>
          <a:ln w="76200">
            <a:solidFill>
              <a:srgbClr val="2659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B14F45E-4321-62ED-591F-900100C9A1B9}"/>
              </a:ext>
            </a:extLst>
          </p:cNvPr>
          <p:cNvSpPr/>
          <p:nvPr/>
        </p:nvSpPr>
        <p:spPr>
          <a:xfrm>
            <a:off x="918000" y="943621"/>
            <a:ext cx="28440000" cy="3240000"/>
          </a:xfrm>
          <a:prstGeom prst="rect">
            <a:avLst/>
          </a:prstGeom>
          <a:solidFill>
            <a:schemeClr val="bg1"/>
          </a:solidFill>
          <a:ln w="76200">
            <a:solidFill>
              <a:srgbClr val="2659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4" name="Grafik 33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9906BA1B-CCBE-03AF-B204-C599C65EA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4140" y="14460624"/>
            <a:ext cx="2398509" cy="1397732"/>
          </a:xfrm>
          <a:prstGeom prst="rect">
            <a:avLst/>
          </a:prstGeom>
        </p:spPr>
      </p:pic>
      <p:sp>
        <p:nvSpPr>
          <p:cNvPr id="35" name="Textfeld 34">
            <a:extLst>
              <a:ext uri="{FF2B5EF4-FFF2-40B4-BE49-F238E27FC236}">
                <a16:creationId xmlns:a16="http://schemas.microsoft.com/office/drawing/2014/main" id="{793D0645-84C4-D44C-E578-E5F51CBA98BB}"/>
              </a:ext>
            </a:extLst>
          </p:cNvPr>
          <p:cNvSpPr txBox="1"/>
          <p:nvPr/>
        </p:nvSpPr>
        <p:spPr>
          <a:xfrm>
            <a:off x="11630987" y="5888062"/>
            <a:ext cx="80402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Restoring momentum with PBC Hamiltonian</a:t>
            </a:r>
          </a:p>
        </p:txBody>
      </p:sp>
      <p:pic>
        <p:nvPicPr>
          <p:cNvPr id="36" name="Grafik 35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94EB90C-B7BB-A7DA-CA2A-A0A71AA8B0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2413" y="14460624"/>
            <a:ext cx="2771338" cy="1204614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D3912907-7F2E-BD37-CDF1-DB21075475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6659" y="6573815"/>
            <a:ext cx="3106522" cy="32307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C319615B-3CAD-3C6F-3B45-0D0B2B316E9B}"/>
              </a:ext>
            </a:extLst>
          </p:cNvPr>
          <p:cNvSpPr txBox="1"/>
          <p:nvPr/>
        </p:nvSpPr>
        <p:spPr>
          <a:xfrm>
            <a:off x="21362992" y="5888062"/>
            <a:ext cx="70270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Standing waves with OBC Hamiltonian</a:t>
            </a:r>
          </a:p>
        </p:txBody>
      </p:sp>
      <p:pic>
        <p:nvPicPr>
          <p:cNvPr id="44" name="Grafik 43">
            <a:extLst>
              <a:ext uri="{FF2B5EF4-FFF2-40B4-BE49-F238E27FC236}">
                <a16:creationId xmlns:a16="http://schemas.microsoft.com/office/drawing/2014/main" id="{955A7628-00F1-6E43-8549-58172D431B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502" y="8531783"/>
            <a:ext cx="3786928" cy="416561"/>
          </a:xfrm>
          <a:prstGeom prst="rect">
            <a:avLst/>
          </a:prstGeom>
        </p:spPr>
      </p:pic>
      <p:sp>
        <p:nvSpPr>
          <p:cNvPr id="45" name="Textfeld 44">
            <a:extLst>
              <a:ext uri="{FF2B5EF4-FFF2-40B4-BE49-F238E27FC236}">
                <a16:creationId xmlns:a16="http://schemas.microsoft.com/office/drawing/2014/main" id="{8B1C9CF2-8AEE-5DF6-FF7A-FA6339E7E04E}"/>
              </a:ext>
            </a:extLst>
          </p:cNvPr>
          <p:cNvSpPr txBox="1"/>
          <p:nvPr/>
        </p:nvSpPr>
        <p:spPr>
          <a:xfrm>
            <a:off x="1446483" y="8511064"/>
            <a:ext cx="2083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Gauge freedom</a:t>
            </a:r>
          </a:p>
        </p:txBody>
      </p:sp>
      <p:pic>
        <p:nvPicPr>
          <p:cNvPr id="48" name="Grafik 47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71CF56DD-B421-47DE-8B22-52A6BF42FB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2713" y="6742035"/>
            <a:ext cx="3920085" cy="769317"/>
          </a:xfrm>
          <a:prstGeom prst="rect">
            <a:avLst/>
          </a:prstGeom>
        </p:spPr>
      </p:pic>
      <p:pic>
        <p:nvPicPr>
          <p:cNvPr id="49" name="Grafik 48" descr="Ein Bild, das Schrift, Text, Reihe, weiß enthält.&#10;&#10;KI-generierte Inhalte können fehlerhaft sein.">
            <a:extLst>
              <a:ext uri="{FF2B5EF4-FFF2-40B4-BE49-F238E27FC236}">
                <a16:creationId xmlns:a16="http://schemas.microsoft.com/office/drawing/2014/main" id="{05D41FB9-0BFC-09DC-D608-C60BB57413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0298" y="7523502"/>
            <a:ext cx="6595513" cy="880500"/>
          </a:xfrm>
          <a:prstGeom prst="rect">
            <a:avLst/>
          </a:prstGeom>
        </p:spPr>
      </p:pic>
      <p:pic>
        <p:nvPicPr>
          <p:cNvPr id="50" name="Grafik 49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FBFBFE30-92E3-797E-3FCD-29BEBE21928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24337" y="11071865"/>
            <a:ext cx="6812029" cy="934950"/>
          </a:xfrm>
          <a:prstGeom prst="rect">
            <a:avLst/>
          </a:prstGeom>
        </p:spPr>
      </p:pic>
      <p:sp>
        <p:nvSpPr>
          <p:cNvPr id="53" name="Textfeld 52">
            <a:extLst>
              <a:ext uri="{FF2B5EF4-FFF2-40B4-BE49-F238E27FC236}">
                <a16:creationId xmlns:a16="http://schemas.microsoft.com/office/drawing/2014/main" id="{A7FB77AC-CDD9-1537-E4E2-E06FD1EBE6FE}"/>
              </a:ext>
            </a:extLst>
          </p:cNvPr>
          <p:cNvSpPr txBox="1"/>
          <p:nvPr/>
        </p:nvSpPr>
        <p:spPr>
          <a:xfrm>
            <a:off x="1441205" y="9224493"/>
            <a:ext cx="2210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Parametrization</a:t>
            </a:r>
            <a:endParaRPr lang="en-GB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09BD59BA-5CA2-90A9-D409-81B2B69A96C3}"/>
              </a:ext>
            </a:extLst>
          </p:cNvPr>
          <p:cNvSpPr txBox="1"/>
          <p:nvPr/>
        </p:nvSpPr>
        <p:spPr>
          <a:xfrm>
            <a:off x="1441205" y="6818039"/>
            <a:ext cx="17520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 state</a:t>
            </a:r>
          </a:p>
        </p:txBody>
      </p:sp>
      <p:pic>
        <p:nvPicPr>
          <p:cNvPr id="57" name="Grafik 56" descr="Ein Bild, das Schrift, Typografie, Kalligrafie, Text enthält.&#10;&#10;KI-generierte Inhalte können fehlerhaft sein.">
            <a:extLst>
              <a:ext uri="{FF2B5EF4-FFF2-40B4-BE49-F238E27FC236}">
                <a16:creationId xmlns:a16="http://schemas.microsoft.com/office/drawing/2014/main" id="{B29AD15C-7BBD-9F35-961C-E2E0FD64FF6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51630" y="9334496"/>
            <a:ext cx="1790201" cy="340138"/>
          </a:xfrm>
          <a:prstGeom prst="rect">
            <a:avLst/>
          </a:prstGeom>
        </p:spPr>
      </p:pic>
      <p:pic>
        <p:nvPicPr>
          <p:cNvPr id="58" name="Grafik 57">
            <a:extLst>
              <a:ext uri="{FF2B5EF4-FFF2-40B4-BE49-F238E27FC236}">
                <a16:creationId xmlns:a16="http://schemas.microsoft.com/office/drawing/2014/main" id="{8F18C559-6580-93AB-A28F-8BEE8BBF7F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61701" y="9317057"/>
            <a:ext cx="4675602" cy="343828"/>
          </a:xfrm>
          <a:prstGeom prst="rect">
            <a:avLst/>
          </a:prstGeom>
        </p:spPr>
      </p:pic>
      <p:sp>
        <p:nvSpPr>
          <p:cNvPr id="61" name="Textfeld 60">
            <a:extLst>
              <a:ext uri="{FF2B5EF4-FFF2-40B4-BE49-F238E27FC236}">
                <a16:creationId xmlns:a16="http://schemas.microsoft.com/office/drawing/2014/main" id="{62947EBD-0C4F-82FC-B390-2E20A05896CE}"/>
              </a:ext>
            </a:extLst>
          </p:cNvPr>
          <p:cNvSpPr txBox="1"/>
          <p:nvPr/>
        </p:nvSpPr>
        <p:spPr>
          <a:xfrm>
            <a:off x="1444551" y="7684621"/>
            <a:ext cx="1945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Tangent space</a:t>
            </a:r>
          </a:p>
        </p:txBody>
      </p:sp>
      <p:pic>
        <p:nvPicPr>
          <p:cNvPr id="62" name="Grafik 61" descr="Ein Bild, das Diagramm, Plan, technische Zeichnung, Reihe enthält.&#10;&#10;KI-generierte Inhalte können fehlerhaft sein.">
            <a:extLst>
              <a:ext uri="{FF2B5EF4-FFF2-40B4-BE49-F238E27FC236}">
                <a16:creationId xmlns:a16="http://schemas.microsoft.com/office/drawing/2014/main" id="{1BF8515F-FB1F-6031-0C20-0C5E086C616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81977" y="9710918"/>
            <a:ext cx="5373787" cy="1343782"/>
          </a:xfrm>
          <a:prstGeom prst="rect">
            <a:avLst/>
          </a:prstGeom>
        </p:spPr>
      </p:pic>
      <p:sp>
        <p:nvSpPr>
          <p:cNvPr id="90" name="Textfeld 89">
            <a:extLst>
              <a:ext uri="{FF2B5EF4-FFF2-40B4-BE49-F238E27FC236}">
                <a16:creationId xmlns:a16="http://schemas.microsoft.com/office/drawing/2014/main" id="{283C46B8-A8E8-A4C1-46EF-6CF7BC6379D1}"/>
              </a:ext>
            </a:extLst>
          </p:cNvPr>
          <p:cNvSpPr txBox="1"/>
          <p:nvPr/>
        </p:nvSpPr>
        <p:spPr>
          <a:xfrm>
            <a:off x="14362381" y="4837590"/>
            <a:ext cx="155045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1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MPS</a:t>
            </a:r>
          </a:p>
        </p:txBody>
      </p:sp>
      <p:pic>
        <p:nvPicPr>
          <p:cNvPr id="151" name="Grafik 150" descr="Ein Bild, das Diagramm, Design enthält.&#10;&#10;KI-generierte Inhalte können fehlerhaft sein.">
            <a:extLst>
              <a:ext uri="{FF2B5EF4-FFF2-40B4-BE49-F238E27FC236}">
                <a16:creationId xmlns:a16="http://schemas.microsoft.com/office/drawing/2014/main" id="{61A86EDB-60CC-9310-8BC6-81E45B2B844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3834" y="12408845"/>
            <a:ext cx="3920085" cy="3450779"/>
          </a:xfrm>
          <a:prstGeom prst="rect">
            <a:avLst/>
          </a:prstGeom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9B01A452-A356-EB84-8D7F-67919C11267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20139" y="6912759"/>
            <a:ext cx="8319833" cy="7546516"/>
          </a:xfrm>
          <a:prstGeom prst="rect">
            <a:avLst/>
          </a:prstGeom>
        </p:spPr>
      </p:pic>
      <p:sp>
        <p:nvSpPr>
          <p:cNvPr id="194" name="Textfeld 193">
            <a:extLst>
              <a:ext uri="{FF2B5EF4-FFF2-40B4-BE49-F238E27FC236}">
                <a16:creationId xmlns:a16="http://schemas.microsoft.com/office/drawing/2014/main" id="{C8562B8E-9C93-C91E-4F11-78160B9754DF}"/>
              </a:ext>
            </a:extLst>
          </p:cNvPr>
          <p:cNvSpPr txBox="1"/>
          <p:nvPr/>
        </p:nvSpPr>
        <p:spPr>
          <a:xfrm>
            <a:off x="4089825" y="1064192"/>
            <a:ext cx="22095562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300" b="1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Quasiparticle Excitation Ansatz for 2D Isometric Tensor Network States</a:t>
            </a:r>
            <a:endParaRPr lang="en-GB" sz="5300" b="1" noProof="0" dirty="0">
              <a:solidFill>
                <a:srgbClr val="2659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GB" sz="4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Lukas Wittmann</a:t>
            </a:r>
            <a:r>
              <a:rPr lang="en-GB" sz="4400" baseline="300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1,2</a:t>
            </a:r>
            <a:r>
              <a:rPr lang="en-GB" sz="4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Johannes Hauschild</a:t>
            </a:r>
            <a:r>
              <a:rPr lang="en-GB" sz="4400" baseline="300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1,2</a:t>
            </a:r>
            <a:r>
              <a:rPr lang="en-GB" sz="4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Frank Pollmann</a:t>
            </a:r>
            <a:r>
              <a:rPr lang="en-GB" sz="4400" baseline="300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1,2</a:t>
            </a:r>
          </a:p>
          <a:p>
            <a:pPr algn="ctr"/>
            <a:r>
              <a:rPr lang="en-GB" sz="3200" i="1" baseline="300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GB" sz="3200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University of Munich, TUM School of Natural Sciences, Physics Department, 85748 </a:t>
            </a:r>
            <a:r>
              <a:rPr lang="en-GB" sz="3200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Garching</a:t>
            </a:r>
            <a:r>
              <a:rPr lang="en-GB" sz="3200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Germany</a:t>
            </a:r>
          </a:p>
          <a:p>
            <a:pPr algn="ctr"/>
            <a:r>
              <a:rPr lang="en-GB" sz="3200" i="1" baseline="300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GB" sz="3200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Munich </a:t>
            </a:r>
            <a:r>
              <a:rPr lang="en-GB" sz="3200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</a:t>
            </a:r>
            <a:r>
              <a:rPr lang="en-GB" sz="3200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Quantum Science and Technology (MCQST), </a:t>
            </a:r>
            <a:r>
              <a:rPr lang="en-GB" sz="3200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Schellingstr</a:t>
            </a:r>
            <a:r>
              <a:rPr lang="en-GB" sz="3200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4, 80799 München, Germany</a:t>
            </a:r>
            <a:endParaRPr lang="en-GB" sz="6600" i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7" name="Textfeld 196">
            <a:extLst>
              <a:ext uri="{FF2B5EF4-FFF2-40B4-BE49-F238E27FC236}">
                <a16:creationId xmlns:a16="http://schemas.microsoft.com/office/drawing/2014/main" id="{21F7A1A6-E177-6526-A2BF-D8DB5081708F}"/>
              </a:ext>
            </a:extLst>
          </p:cNvPr>
          <p:cNvSpPr txBox="1"/>
          <p:nvPr/>
        </p:nvSpPr>
        <p:spPr>
          <a:xfrm>
            <a:off x="3269008" y="5892431"/>
            <a:ext cx="55484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Quasiparticle excitation ansatz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6B80F1-2BCA-A199-5D45-B325E2B41EE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88212" y="1878497"/>
            <a:ext cx="2605804" cy="1373329"/>
          </a:xfrm>
          <a:prstGeom prst="rect">
            <a:avLst/>
          </a:prstGeom>
        </p:spPr>
      </p:pic>
      <p:pic>
        <p:nvPicPr>
          <p:cNvPr id="1026" name="Picture 2" descr="MCQST_Logo_BlueBlack_Vector">
            <a:extLst>
              <a:ext uri="{FF2B5EF4-FFF2-40B4-BE49-F238E27FC236}">
                <a16:creationId xmlns:a16="http://schemas.microsoft.com/office/drawing/2014/main" id="{9D44D6E3-F95C-7BD6-15A3-267CA988B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06704" y="1878497"/>
            <a:ext cx="2735945" cy="1395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D05C0C3-597D-B55D-6872-F377EA24CE8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417995" y="6502805"/>
            <a:ext cx="8478393" cy="9335758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67E1F3FB-DC57-EE57-5DC4-FBD37A80DE4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332425" y="15310947"/>
            <a:ext cx="2515398" cy="510881"/>
          </a:xfrm>
          <a:prstGeom prst="rect">
            <a:avLst/>
          </a:prstGeom>
        </p:spPr>
      </p:pic>
      <p:pic>
        <p:nvPicPr>
          <p:cNvPr id="42" name="Grafik 41">
            <a:extLst>
              <a:ext uri="{FF2B5EF4-FFF2-40B4-BE49-F238E27FC236}">
                <a16:creationId xmlns:a16="http://schemas.microsoft.com/office/drawing/2014/main" id="{BB6157BC-DEAE-4354-763B-279331D852C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332425" y="14841864"/>
            <a:ext cx="1598635" cy="46908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106B9A0D-FE4A-06F5-98F2-05083FF1735E}"/>
              </a:ext>
            </a:extLst>
          </p:cNvPr>
          <p:cNvSpPr txBox="1"/>
          <p:nvPr/>
        </p:nvSpPr>
        <p:spPr>
          <a:xfrm>
            <a:off x="14040103" y="16624047"/>
            <a:ext cx="21751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noProof="0" dirty="0" err="1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isoTNS</a:t>
            </a:r>
            <a:endParaRPr lang="en-GB" sz="4800" b="1" noProof="0" dirty="0">
              <a:solidFill>
                <a:srgbClr val="2659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Grafik 10" descr="Ein Bild, das Clipart, Entwurf, Kreis, Design enthält.&#10;&#10;KI-generierte Inhalte können fehlerhaft sein.">
            <a:extLst>
              <a:ext uri="{FF2B5EF4-FFF2-40B4-BE49-F238E27FC236}">
                <a16:creationId xmlns:a16="http://schemas.microsoft.com/office/drawing/2014/main" id="{DEEEE792-838B-6E67-66B7-E2399BC71BA0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19060" y="19554681"/>
            <a:ext cx="1431131" cy="1159750"/>
          </a:xfrm>
          <a:prstGeom prst="rect">
            <a:avLst/>
          </a:prstGeom>
        </p:spPr>
      </p:pic>
      <p:pic>
        <p:nvPicPr>
          <p:cNvPr id="12" name="Grafik 11" descr="Ein Bild, das Kreis, Clipart, Entwurf, Design enthält.&#10;&#10;KI-generierte Inhalte können fehlerhaft sein.">
            <a:extLst>
              <a:ext uri="{FF2B5EF4-FFF2-40B4-BE49-F238E27FC236}">
                <a16:creationId xmlns:a16="http://schemas.microsoft.com/office/drawing/2014/main" id="{5BEFE9AE-3614-2A28-E6E9-011029F2EF5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635359" y="19522239"/>
            <a:ext cx="1431131" cy="1146283"/>
          </a:xfrm>
          <a:prstGeom prst="rect">
            <a:avLst/>
          </a:prstGeom>
        </p:spPr>
      </p:pic>
      <p:pic>
        <p:nvPicPr>
          <p:cNvPr id="13" name="Grafik 12" descr="Ein Bild, das Diagramm, Reihe, Symbol, Grafiken enthält.&#10;&#10;KI-generierte Inhalte können fehlerhaft sein.">
            <a:extLst>
              <a:ext uri="{FF2B5EF4-FFF2-40B4-BE49-F238E27FC236}">
                <a16:creationId xmlns:a16="http://schemas.microsoft.com/office/drawing/2014/main" id="{6A3398E4-250D-AAEB-678F-A637EE7BFA9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49440" y="18494848"/>
            <a:ext cx="1812565" cy="1038124"/>
          </a:xfrm>
          <a:prstGeom prst="rect">
            <a:avLst/>
          </a:prstGeom>
        </p:spPr>
      </p:pic>
      <p:pic>
        <p:nvPicPr>
          <p:cNvPr id="14" name="Grafik 13" descr="Ein Bild, das Grafiken, Symbol, Clipart, Grafikdesign enthält.&#10;&#10;KI-generierte Inhalte können fehlerhaft sein.">
            <a:extLst>
              <a:ext uri="{FF2B5EF4-FFF2-40B4-BE49-F238E27FC236}">
                <a16:creationId xmlns:a16="http://schemas.microsoft.com/office/drawing/2014/main" id="{66B6569F-064A-4A73-AA6C-1A3439883E9C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49440" y="19588779"/>
            <a:ext cx="1673456" cy="1038123"/>
          </a:xfrm>
          <a:prstGeom prst="rect">
            <a:avLst/>
          </a:prstGeom>
        </p:spPr>
      </p:pic>
      <p:pic>
        <p:nvPicPr>
          <p:cNvPr id="15" name="Grafik 14" descr="Ein Bild, das Diagramm, Reihe, Symbol, Design enthält.&#10;&#10;KI-generierte Inhalte können fehlerhaft sein.">
            <a:extLst>
              <a:ext uri="{FF2B5EF4-FFF2-40B4-BE49-F238E27FC236}">
                <a16:creationId xmlns:a16="http://schemas.microsoft.com/office/drawing/2014/main" id="{C0B7D734-7D43-24E8-1BAA-2ED6F7581FEE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549440" y="20696637"/>
            <a:ext cx="1870699" cy="1038124"/>
          </a:xfrm>
          <a:prstGeom prst="rect">
            <a:avLst/>
          </a:prstGeom>
        </p:spPr>
      </p:pic>
      <p:pic>
        <p:nvPicPr>
          <p:cNvPr id="17" name="Grafik 16" descr="Ein Bild, das Schrift, Typografie, Kalligrafie, weiß enthält.&#10;&#10;KI-generierte Inhalte können fehlerhaft sein.">
            <a:extLst>
              <a:ext uri="{FF2B5EF4-FFF2-40B4-BE49-F238E27FC236}">
                <a16:creationId xmlns:a16="http://schemas.microsoft.com/office/drawing/2014/main" id="{E27820E5-62D4-D6CF-F837-56BA0C06A7C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441205" y="19795844"/>
            <a:ext cx="2156549" cy="429368"/>
          </a:xfrm>
          <a:prstGeom prst="rect">
            <a:avLst/>
          </a:prstGeom>
        </p:spPr>
      </p:pic>
      <p:pic>
        <p:nvPicPr>
          <p:cNvPr id="18" name="Grafik 17" descr="Ein Bild, das Symmetrie, Reihe, Design enthält.&#10;&#10;KI-generierte Inhalte können fehlerhaft sein.">
            <a:extLst>
              <a:ext uri="{FF2B5EF4-FFF2-40B4-BE49-F238E27FC236}">
                <a16:creationId xmlns:a16="http://schemas.microsoft.com/office/drawing/2014/main" id="{EF454E40-A695-6A33-87DB-E2F21DA7190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707185" y="18504094"/>
            <a:ext cx="2963246" cy="3449219"/>
          </a:xfrm>
          <a:prstGeom prst="rect">
            <a:avLst/>
          </a:prstGeom>
        </p:spPr>
      </p:pic>
      <p:pic>
        <p:nvPicPr>
          <p:cNvPr id="19" name="Grafik 18" descr="Ein Bild, das Schrift, Symbol, Logo, Grafiken enthält.&#10;&#10;KI-generierte Inhalte können fehlerhaft sein.">
            <a:extLst>
              <a:ext uri="{FF2B5EF4-FFF2-40B4-BE49-F238E27FC236}">
                <a16:creationId xmlns:a16="http://schemas.microsoft.com/office/drawing/2014/main" id="{2982D163-5BBE-4549-2388-A99A1D3D44C3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814903" y="20625796"/>
            <a:ext cx="503949" cy="251722"/>
          </a:xfrm>
          <a:prstGeom prst="rect">
            <a:avLst/>
          </a:prstGeom>
        </p:spPr>
      </p:pic>
      <p:pic>
        <p:nvPicPr>
          <p:cNvPr id="20" name="Grafik 19" descr="Ein Bild, das Text, Schrift, Handschrift, Reihe enthält.&#10;&#10;KI-generierte Inhalte können fehlerhaft sein.">
            <a:extLst>
              <a:ext uri="{FF2B5EF4-FFF2-40B4-BE49-F238E27FC236}">
                <a16:creationId xmlns:a16="http://schemas.microsoft.com/office/drawing/2014/main" id="{02056A1F-66A1-F0C3-094A-57E2B8570545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346618" y="21743734"/>
            <a:ext cx="1548116" cy="298012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8C569EE5-2669-7FAE-2D4D-C22190DA12B7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388212" y="31315594"/>
            <a:ext cx="4328980" cy="2659079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B6726075-F5F1-DAE8-9DCE-8422A7837821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939569" y="31448008"/>
            <a:ext cx="3423760" cy="2337149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DD0FA14E-C3FA-585F-8DC9-2442AC4B5BE4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81977" y="35364636"/>
            <a:ext cx="9375160" cy="3100251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A08CE21A-5D76-CA27-E718-F8EDA2A49395}"/>
              </a:ext>
            </a:extLst>
          </p:cNvPr>
          <p:cNvSpPr txBox="1"/>
          <p:nvPr/>
        </p:nvSpPr>
        <p:spPr>
          <a:xfrm>
            <a:off x="3387555" y="36187313"/>
            <a:ext cx="6138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</a:t>
            </a:r>
          </a:p>
        </p:txBody>
      </p:sp>
      <p:pic>
        <p:nvPicPr>
          <p:cNvPr id="27" name="Grafik 26" descr="Ein Bild, das Schrift, weiß, Kalligrafie, Text enthält.&#10;&#10;KI-generierte Inhalte können fehlerhaft sein.">
            <a:extLst>
              <a:ext uri="{FF2B5EF4-FFF2-40B4-BE49-F238E27FC236}">
                <a16:creationId xmlns:a16="http://schemas.microsoft.com/office/drawing/2014/main" id="{4278A0E4-6981-7B9F-E4B1-C8DEA7868E52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56481" y="34757662"/>
            <a:ext cx="1386259" cy="370459"/>
          </a:xfrm>
          <a:prstGeom prst="rect">
            <a:avLst/>
          </a:prstGeom>
        </p:spPr>
      </p:pic>
      <p:pic>
        <p:nvPicPr>
          <p:cNvPr id="29" name="Grafik 28" descr="Ein Bild, das Diagramm, Schrift, Reihe, Origami enthält.&#10;&#10;KI-generierte Inhalte können fehlerhaft sein.">
            <a:extLst>
              <a:ext uri="{FF2B5EF4-FFF2-40B4-BE49-F238E27FC236}">
                <a16:creationId xmlns:a16="http://schemas.microsoft.com/office/drawing/2014/main" id="{C16584CC-7398-ED4F-7537-D6278388B9E0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081977" y="34158291"/>
            <a:ext cx="3378564" cy="1079414"/>
          </a:xfrm>
          <a:prstGeom prst="rect">
            <a:avLst/>
          </a:prstGeom>
        </p:spPr>
      </p:pic>
      <p:pic>
        <p:nvPicPr>
          <p:cNvPr id="30" name="Grafik 29" descr="Ein Bild, das Schrift, Typografie, Kalligrafie, Handschrift enthält.&#10;&#10;KI-generierte Inhalte können fehlerhaft sein.">
            <a:extLst>
              <a:ext uri="{FF2B5EF4-FFF2-40B4-BE49-F238E27FC236}">
                <a16:creationId xmlns:a16="http://schemas.microsoft.com/office/drawing/2014/main" id="{73AA512A-5423-6ABF-49F5-205C81D88362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825419" y="34346321"/>
            <a:ext cx="2552019" cy="370043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1C3C9E9B-AA17-B14C-351D-916B832FA6E0}"/>
              </a:ext>
            </a:extLst>
          </p:cNvPr>
          <p:cNvSpPr txBox="1"/>
          <p:nvPr/>
        </p:nvSpPr>
        <p:spPr>
          <a:xfrm>
            <a:off x="3387555" y="34459580"/>
            <a:ext cx="6138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3C9AD6AC-EEED-ECF1-FD7E-6006ED59BA6D}"/>
              </a:ext>
            </a:extLst>
          </p:cNvPr>
          <p:cNvSpPr txBox="1"/>
          <p:nvPr/>
        </p:nvSpPr>
        <p:spPr>
          <a:xfrm>
            <a:off x="3855379" y="30612725"/>
            <a:ext cx="7595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b</a:t>
            </a:r>
            <a:r>
              <a:rPr lang="en-GB" sz="3200" b="1" noProof="0" dirty="0" err="1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ulk</a:t>
            </a:r>
            <a:r>
              <a:rPr lang="en-GB" sz="32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-weighted boundary compression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54D5F383-7ABE-F017-BC27-85C891B54076}"/>
                  </a:ext>
                </a:extLst>
              </p:cNvPr>
              <p:cNvSpPr txBox="1"/>
              <p:nvPr/>
            </p:nvSpPr>
            <p:spPr>
              <a:xfrm>
                <a:off x="6967849" y="24664174"/>
                <a:ext cx="1351003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3200" b="1" noProof="0" smtClean="0">
                              <a:solidFill>
                                <a:srgbClr val="2659EE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GB" sz="3200" b="1" i="0" noProof="0" smtClean="0">
                              <a:solidFill>
                                <a:srgbClr val="2659EE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𝐃𝐌𝐑𝐆</m:t>
                          </m:r>
                        </m:e>
                        <m:sup>
                          <m:r>
                            <a:rPr lang="en-GB" sz="3200" b="1" i="0" noProof="0" smtClean="0">
                              <a:solidFill>
                                <a:srgbClr val="2659EE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GB" sz="2800" b="1" noProof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54D5F383-7ABE-F017-BC27-85C891B54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849" y="24664174"/>
                <a:ext cx="1351003" cy="595932"/>
              </a:xfrm>
              <a:prstGeom prst="rect">
                <a:avLst/>
              </a:prstGeom>
              <a:blipFill>
                <a:blip r:embed="rId35"/>
                <a:stretch>
                  <a:fillRect l="-15741" r="-370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2D34C276-F7AE-AF78-817E-4BF244FF6283}"/>
                  </a:ext>
                </a:extLst>
              </p:cNvPr>
              <p:cNvSpPr txBox="1"/>
              <p:nvPr/>
            </p:nvSpPr>
            <p:spPr>
              <a:xfrm>
                <a:off x="6103041" y="32421954"/>
                <a:ext cx="44304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2D34C276-F7AE-AF78-817E-4BF244FF6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041" y="32421954"/>
                <a:ext cx="443047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3" name="Grafik 62">
            <a:extLst>
              <a:ext uri="{FF2B5EF4-FFF2-40B4-BE49-F238E27FC236}">
                <a16:creationId xmlns:a16="http://schemas.microsoft.com/office/drawing/2014/main" id="{44CF5398-FE69-DDA5-3DA8-4067C4C47F1B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08968" y="25489555"/>
            <a:ext cx="13282689" cy="4370480"/>
          </a:xfrm>
          <a:prstGeom prst="rect">
            <a:avLst/>
          </a:prstGeom>
        </p:spPr>
      </p:pic>
      <p:pic>
        <p:nvPicPr>
          <p:cNvPr id="24" name="Grafik 23" descr="Ein Bild, das Schrift, Grafiken, Screenshot, Logo enthält.&#10;&#10;KI-generierte Inhalte können fehlerhaft sein.">
            <a:extLst>
              <a:ext uri="{FF2B5EF4-FFF2-40B4-BE49-F238E27FC236}">
                <a16:creationId xmlns:a16="http://schemas.microsoft.com/office/drawing/2014/main" id="{0C1E372C-377F-5CAD-54C0-83F9D99DEF8B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4441128" y="33325248"/>
            <a:ext cx="2182200" cy="830997"/>
          </a:xfrm>
          <a:prstGeom prst="rect">
            <a:avLst/>
          </a:prstGeom>
        </p:spPr>
      </p:pic>
      <p:pic>
        <p:nvPicPr>
          <p:cNvPr id="26" name="Grafik 25" descr="Ein Bild, das Reihe, Farbigkeit, Kunst, Symmetrie enthält.&#10;&#10;KI-generierte Inhalte können fehlerhaft sein.">
            <a:extLst>
              <a:ext uri="{FF2B5EF4-FFF2-40B4-BE49-F238E27FC236}">
                <a16:creationId xmlns:a16="http://schemas.microsoft.com/office/drawing/2014/main" id="{1449471D-B9B2-A3A5-D9F7-E50D94830565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8998450" y="30763097"/>
            <a:ext cx="1151894" cy="2802558"/>
          </a:xfrm>
          <a:prstGeom prst="rect">
            <a:avLst/>
          </a:prstGeom>
        </p:spPr>
      </p:pic>
      <p:pic>
        <p:nvPicPr>
          <p:cNvPr id="28" name="Grafik 27" descr="Ein Bild, das Reihe, Symmetrie, Farbigkeit, Design enthält.&#10;&#10;KI-generierte Inhalte können fehlerhaft sein.">
            <a:extLst>
              <a:ext uri="{FF2B5EF4-FFF2-40B4-BE49-F238E27FC236}">
                <a16:creationId xmlns:a16="http://schemas.microsoft.com/office/drawing/2014/main" id="{01201D4E-A438-3A69-7063-6CDD6B7DD537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8998450" y="33631139"/>
            <a:ext cx="1151894" cy="2019270"/>
          </a:xfrm>
          <a:prstGeom prst="rect">
            <a:avLst/>
          </a:prstGeom>
        </p:spPr>
      </p:pic>
      <p:pic>
        <p:nvPicPr>
          <p:cNvPr id="32" name="Grafik 31" descr="Ein Bild, das Reihe, Symmetrie, Farbigkeit, Clipart enthält.&#10;&#10;KI-generierte Inhalte können fehlerhaft sein.">
            <a:extLst>
              <a:ext uri="{FF2B5EF4-FFF2-40B4-BE49-F238E27FC236}">
                <a16:creationId xmlns:a16="http://schemas.microsoft.com/office/drawing/2014/main" id="{9E6819F3-B7E7-26BE-186B-7B7AF8A9253F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9011740" y="35714996"/>
            <a:ext cx="1151894" cy="2075712"/>
          </a:xfrm>
          <a:prstGeom prst="rect">
            <a:avLst/>
          </a:prstGeom>
        </p:spPr>
      </p:pic>
      <p:pic>
        <p:nvPicPr>
          <p:cNvPr id="56" name="Grafik 55" descr="Ein Bild, das Reihe, Farbigkeit, Design enthält.&#10;&#10;KI-generierte Inhalte können fehlerhaft sein.">
            <a:extLst>
              <a:ext uri="{FF2B5EF4-FFF2-40B4-BE49-F238E27FC236}">
                <a16:creationId xmlns:a16="http://schemas.microsoft.com/office/drawing/2014/main" id="{5A5E1625-8C2B-B935-D618-2A5FA5C2F232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20189803" y="31527955"/>
            <a:ext cx="1151894" cy="2037700"/>
          </a:xfrm>
          <a:prstGeom prst="rect">
            <a:avLst/>
          </a:prstGeom>
        </p:spPr>
      </p:pic>
      <p:pic>
        <p:nvPicPr>
          <p:cNvPr id="60" name="Grafik 59" descr="Ein Bild, das Reihe, Symmetrie, Farbigkeit, Design enthält.&#10;&#10;KI-generierte Inhalte können fehlerhaft sein.">
            <a:extLst>
              <a:ext uri="{FF2B5EF4-FFF2-40B4-BE49-F238E27FC236}">
                <a16:creationId xmlns:a16="http://schemas.microsoft.com/office/drawing/2014/main" id="{70168119-AFCD-1420-1759-B39E16AE6D5D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7803934" y="29392114"/>
            <a:ext cx="1151894" cy="2051524"/>
          </a:xfrm>
          <a:prstGeom prst="rect">
            <a:avLst/>
          </a:prstGeom>
        </p:spPr>
      </p:pic>
      <p:pic>
        <p:nvPicPr>
          <p:cNvPr id="66" name="Grafik 65" descr="Ein Bild, das Reihe, Farbigkeit, Symmetrie, Design enthält.&#10;&#10;KI-generierte Inhalte können fehlerhaft sein.">
            <a:extLst>
              <a:ext uri="{FF2B5EF4-FFF2-40B4-BE49-F238E27FC236}">
                <a16:creationId xmlns:a16="http://schemas.microsoft.com/office/drawing/2014/main" id="{5B4470CA-4C90-B84A-175C-8C5FA2CEFE26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7820389" y="31531062"/>
            <a:ext cx="1137175" cy="2038954"/>
          </a:xfrm>
          <a:prstGeom prst="rect">
            <a:avLst/>
          </a:prstGeom>
        </p:spPr>
      </p:pic>
      <p:pic>
        <p:nvPicPr>
          <p:cNvPr id="68" name="Grafik 67" descr="Ein Bild, das Reihe, Farbigkeit, Symmetrie, Abakus enthält.&#10;&#10;KI-generierte Inhalte können fehlerhaft sein.">
            <a:extLst>
              <a:ext uri="{FF2B5EF4-FFF2-40B4-BE49-F238E27FC236}">
                <a16:creationId xmlns:a16="http://schemas.microsoft.com/office/drawing/2014/main" id="{AB4CFB17-848A-346A-AC71-1EAAFF3829F7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7806360" y="33631139"/>
            <a:ext cx="1165231" cy="4191336"/>
          </a:xfrm>
          <a:prstGeom prst="rect">
            <a:avLst/>
          </a:prstGeom>
        </p:spPr>
      </p:pic>
      <p:pic>
        <p:nvPicPr>
          <p:cNvPr id="70" name="Grafik 69" descr="Ein Bild, das Reihe, Design enthält.&#10;&#10;KI-generierte Inhalte können fehlerhaft sein.">
            <a:extLst>
              <a:ext uri="{FF2B5EF4-FFF2-40B4-BE49-F238E27FC236}">
                <a16:creationId xmlns:a16="http://schemas.microsoft.com/office/drawing/2014/main" id="{19C56835-C426-04CF-E1FB-CAC7B28B9F74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6638887" y="29392114"/>
            <a:ext cx="1122425" cy="2059651"/>
          </a:xfrm>
          <a:prstGeom prst="rect">
            <a:avLst/>
          </a:prstGeom>
        </p:spPr>
      </p:pic>
      <p:pic>
        <p:nvPicPr>
          <p:cNvPr id="72" name="Grafik 71" descr="Ein Bild, das Reihe, Farbigkeit, Design enthält.&#10;&#10;KI-generierte Inhalte können fehlerhaft sein.">
            <a:extLst>
              <a:ext uri="{FF2B5EF4-FFF2-40B4-BE49-F238E27FC236}">
                <a16:creationId xmlns:a16="http://schemas.microsoft.com/office/drawing/2014/main" id="{BC97C69F-C4B0-D795-4E0D-F88F03A313E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6609418" y="31522473"/>
            <a:ext cx="1151894" cy="2056132"/>
          </a:xfrm>
          <a:prstGeom prst="rect">
            <a:avLst/>
          </a:prstGeom>
        </p:spPr>
      </p:pic>
      <p:pic>
        <p:nvPicPr>
          <p:cNvPr id="74" name="Grafik 73" descr="Ein Bild, das Screenshot, Reihe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FDFB977B-ED47-E410-B0AF-F6B52BD05853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6623328" y="33607518"/>
            <a:ext cx="1142883" cy="4214957"/>
          </a:xfrm>
          <a:prstGeom prst="rect">
            <a:avLst/>
          </a:prstGeom>
        </p:spPr>
      </p:pic>
      <p:sp>
        <p:nvSpPr>
          <p:cNvPr id="126" name="Textfeld 125">
            <a:extLst>
              <a:ext uri="{FF2B5EF4-FFF2-40B4-BE49-F238E27FC236}">
                <a16:creationId xmlns:a16="http://schemas.microsoft.com/office/drawing/2014/main" id="{0B603DAC-B666-1C1C-2305-AC0287904C4A}"/>
              </a:ext>
            </a:extLst>
          </p:cNvPr>
          <p:cNvSpPr txBox="1"/>
          <p:nvPr/>
        </p:nvSpPr>
        <p:spPr>
          <a:xfrm>
            <a:off x="18681632" y="17676000"/>
            <a:ext cx="6339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q</a:t>
            </a:r>
            <a:r>
              <a:rPr lang="en-GB" sz="3200" b="1" noProof="0" dirty="0" err="1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uasiparticle</a:t>
            </a:r>
            <a:r>
              <a:rPr lang="en-GB" sz="32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excitation ansatz</a:t>
            </a:r>
          </a:p>
        </p:txBody>
      </p:sp>
      <p:pic>
        <p:nvPicPr>
          <p:cNvPr id="127" name="Grafik 126" descr="Ein Bild, das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43ED067B-CB2F-F8A7-477C-B8F390B64D55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23373072" y="24664174"/>
            <a:ext cx="5624630" cy="17137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714BC717-8E99-5654-E138-A70879865560}"/>
                  </a:ext>
                </a:extLst>
              </p:cNvPr>
              <p:cNvSpPr txBox="1"/>
              <p:nvPr/>
            </p:nvSpPr>
            <p:spPr>
              <a:xfrm>
                <a:off x="23373073" y="26683948"/>
                <a:ext cx="432104" cy="40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714BC717-8E99-5654-E138-A70879865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73073" y="26683948"/>
                <a:ext cx="432104" cy="408296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Textfeld 134">
                <a:extLst>
                  <a:ext uri="{FF2B5EF4-FFF2-40B4-BE49-F238E27FC236}">
                    <a16:creationId xmlns:a16="http://schemas.microsoft.com/office/drawing/2014/main" id="{130FDADB-A413-9A5D-E12C-33E633B7DC2E}"/>
                  </a:ext>
                </a:extLst>
              </p:cNvPr>
              <p:cNvSpPr txBox="1"/>
              <p:nvPr/>
            </p:nvSpPr>
            <p:spPr>
              <a:xfrm>
                <a:off x="23373072" y="27174458"/>
                <a:ext cx="432104" cy="40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5" name="Textfeld 134">
                <a:extLst>
                  <a:ext uri="{FF2B5EF4-FFF2-40B4-BE49-F238E27FC236}">
                    <a16:creationId xmlns:a16="http://schemas.microsoft.com/office/drawing/2014/main" id="{130FDADB-A413-9A5D-E12C-33E633B7D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73072" y="27174458"/>
                <a:ext cx="432104" cy="408296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Textfeld 136">
                <a:extLst>
                  <a:ext uri="{FF2B5EF4-FFF2-40B4-BE49-F238E27FC236}">
                    <a16:creationId xmlns:a16="http://schemas.microsoft.com/office/drawing/2014/main" id="{25D6EB6D-5B6E-53C9-7FB9-BBE097B1570E}"/>
                  </a:ext>
                </a:extLst>
              </p:cNvPr>
              <p:cNvSpPr txBox="1"/>
              <p:nvPr/>
            </p:nvSpPr>
            <p:spPr>
              <a:xfrm>
                <a:off x="16822066" y="26603123"/>
                <a:ext cx="432104" cy="40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7" name="Textfeld 136">
                <a:extLst>
                  <a:ext uri="{FF2B5EF4-FFF2-40B4-BE49-F238E27FC236}">
                    <a16:creationId xmlns:a16="http://schemas.microsoft.com/office/drawing/2014/main" id="{25D6EB6D-5B6E-53C9-7FB9-BBE097B1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2066" y="26603123"/>
                <a:ext cx="432104" cy="408296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Textfeld 137">
                <a:extLst>
                  <a:ext uri="{FF2B5EF4-FFF2-40B4-BE49-F238E27FC236}">
                    <a16:creationId xmlns:a16="http://schemas.microsoft.com/office/drawing/2014/main" id="{517E3C0B-A288-3B91-6999-ACDDBE62CCC0}"/>
                  </a:ext>
                </a:extLst>
              </p:cNvPr>
              <p:cNvSpPr txBox="1"/>
              <p:nvPr/>
            </p:nvSpPr>
            <p:spPr>
              <a:xfrm>
                <a:off x="16822066" y="27119282"/>
                <a:ext cx="432104" cy="40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8" name="Textfeld 137">
                <a:extLst>
                  <a:ext uri="{FF2B5EF4-FFF2-40B4-BE49-F238E27FC236}">
                    <a16:creationId xmlns:a16="http://schemas.microsoft.com/office/drawing/2014/main" id="{517E3C0B-A288-3B91-6999-ACDDBE62C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2066" y="27119282"/>
                <a:ext cx="432104" cy="408296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feld 138">
                <a:extLst>
                  <a:ext uri="{FF2B5EF4-FFF2-40B4-BE49-F238E27FC236}">
                    <a16:creationId xmlns:a16="http://schemas.microsoft.com/office/drawing/2014/main" id="{88FABC23-A5CF-0070-3856-106B6612EE0B}"/>
                  </a:ext>
                </a:extLst>
              </p:cNvPr>
              <p:cNvSpPr txBox="1"/>
              <p:nvPr/>
            </p:nvSpPr>
            <p:spPr>
              <a:xfrm>
                <a:off x="16822066" y="27587601"/>
                <a:ext cx="432104" cy="40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9" name="Textfeld 138">
                <a:extLst>
                  <a:ext uri="{FF2B5EF4-FFF2-40B4-BE49-F238E27FC236}">
                    <a16:creationId xmlns:a16="http://schemas.microsoft.com/office/drawing/2014/main" id="{88FABC23-A5CF-0070-3856-106B6612EE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2066" y="27587601"/>
                <a:ext cx="432104" cy="408296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0" name="Grafik 139">
            <a:extLst>
              <a:ext uri="{FF2B5EF4-FFF2-40B4-BE49-F238E27FC236}">
                <a16:creationId xmlns:a16="http://schemas.microsoft.com/office/drawing/2014/main" id="{87639C52-1F44-2B23-8E91-0FC51C56A2DD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7192847" y="26595251"/>
            <a:ext cx="2260412" cy="424039"/>
          </a:xfrm>
          <a:prstGeom prst="rect">
            <a:avLst/>
          </a:prstGeom>
        </p:spPr>
      </p:pic>
      <p:pic>
        <p:nvPicPr>
          <p:cNvPr id="141" name="Grafik 140">
            <a:extLst>
              <a:ext uri="{FF2B5EF4-FFF2-40B4-BE49-F238E27FC236}">
                <a16:creationId xmlns:a16="http://schemas.microsoft.com/office/drawing/2014/main" id="{F9B6DD41-0D5A-389C-9FA2-5CC2DAF53332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7264130" y="27085751"/>
            <a:ext cx="2835005" cy="459271"/>
          </a:xfrm>
          <a:prstGeom prst="rect">
            <a:avLst/>
          </a:prstGeom>
        </p:spPr>
      </p:pic>
      <p:pic>
        <p:nvPicPr>
          <p:cNvPr id="142" name="Grafik 141">
            <a:extLst>
              <a:ext uri="{FF2B5EF4-FFF2-40B4-BE49-F238E27FC236}">
                <a16:creationId xmlns:a16="http://schemas.microsoft.com/office/drawing/2014/main" id="{462DF01A-F07E-120E-44EC-77DE908AF26D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17264130" y="27547805"/>
            <a:ext cx="5406692" cy="529856"/>
          </a:xfrm>
          <a:prstGeom prst="rect">
            <a:avLst/>
          </a:prstGeom>
        </p:spPr>
      </p:pic>
      <p:pic>
        <p:nvPicPr>
          <p:cNvPr id="157" name="Grafik 156" descr="Ein Bild, das Schrift, Typografie, Kalligrafie, Handschrift enthält.&#10;&#10;KI-generierte Inhalte können fehlerhaft sein.">
            <a:extLst>
              <a:ext uri="{FF2B5EF4-FFF2-40B4-BE49-F238E27FC236}">
                <a16:creationId xmlns:a16="http://schemas.microsoft.com/office/drawing/2014/main" id="{4119F442-1FF1-77B0-223E-BB61266B77A9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23785935" y="26653980"/>
            <a:ext cx="1972064" cy="471560"/>
          </a:xfrm>
          <a:prstGeom prst="rect">
            <a:avLst/>
          </a:prstGeom>
        </p:spPr>
      </p:pic>
      <p:pic>
        <p:nvPicPr>
          <p:cNvPr id="158" name="Grafik 157">
            <a:extLst>
              <a:ext uri="{FF2B5EF4-FFF2-40B4-BE49-F238E27FC236}">
                <a16:creationId xmlns:a16="http://schemas.microsoft.com/office/drawing/2014/main" id="{41CD2DC3-E9E4-09F4-9E39-195C5AD4588B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23808337" y="27158881"/>
            <a:ext cx="4224254" cy="464667"/>
          </a:xfrm>
          <a:prstGeom prst="rect">
            <a:avLst/>
          </a:prstGeom>
        </p:spPr>
      </p:pic>
      <p:pic>
        <p:nvPicPr>
          <p:cNvPr id="161" name="Grafik 160">
            <a:extLst>
              <a:ext uri="{FF2B5EF4-FFF2-40B4-BE49-F238E27FC236}">
                <a16:creationId xmlns:a16="http://schemas.microsoft.com/office/drawing/2014/main" id="{4109FB83-DB22-0F4B-CC9A-ED2FFFAB6B02}"/>
              </a:ext>
            </a:extLst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8025758" y="24187797"/>
            <a:ext cx="7306667" cy="390906"/>
          </a:xfrm>
          <a:prstGeom prst="rect">
            <a:avLst/>
          </a:prstGeom>
        </p:spPr>
      </p:pic>
      <p:sp>
        <p:nvSpPr>
          <p:cNvPr id="163" name="Textfeld 162">
            <a:extLst>
              <a:ext uri="{FF2B5EF4-FFF2-40B4-BE49-F238E27FC236}">
                <a16:creationId xmlns:a16="http://schemas.microsoft.com/office/drawing/2014/main" id="{10CB8E4F-1F9B-7FB6-0D5E-351311DDBA06}"/>
              </a:ext>
            </a:extLst>
          </p:cNvPr>
          <p:cNvSpPr txBox="1"/>
          <p:nvPr/>
        </p:nvSpPr>
        <p:spPr>
          <a:xfrm>
            <a:off x="14546043" y="24119841"/>
            <a:ext cx="2210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Parametrization</a:t>
            </a:r>
            <a:endParaRPr lang="en-GB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38190F37-CE68-0816-34D2-3F5E4FB6CD1A}"/>
              </a:ext>
            </a:extLst>
          </p:cNvPr>
          <p:cNvSpPr txBox="1"/>
          <p:nvPr/>
        </p:nvSpPr>
        <p:spPr>
          <a:xfrm>
            <a:off x="14515177" y="19474104"/>
            <a:ext cx="1945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Tangent space</a:t>
            </a:r>
          </a:p>
        </p:txBody>
      </p:sp>
      <p:pic>
        <p:nvPicPr>
          <p:cNvPr id="166" name="Grafik 165" descr="Ein Bild, das Kreis enthält.&#10;&#10;KI-generierte Inhalte können fehlerhaft sein.">
            <a:extLst>
              <a:ext uri="{FF2B5EF4-FFF2-40B4-BE49-F238E27FC236}">
                <a16:creationId xmlns:a16="http://schemas.microsoft.com/office/drawing/2014/main" id="{6FB34D7E-6C09-D021-1F50-20A4BB8F10EC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20428932" y="21834653"/>
            <a:ext cx="2399211" cy="1570164"/>
          </a:xfrm>
          <a:prstGeom prst="rect">
            <a:avLst/>
          </a:prstGeom>
        </p:spPr>
      </p:pic>
      <p:pic>
        <p:nvPicPr>
          <p:cNvPr id="167" name="Grafik 166" descr="Ein Bild, das Design enthält.&#10;&#10;KI-generierte Inhalte können fehlerhaft sein.">
            <a:extLst>
              <a:ext uri="{FF2B5EF4-FFF2-40B4-BE49-F238E27FC236}">
                <a16:creationId xmlns:a16="http://schemas.microsoft.com/office/drawing/2014/main" id="{9A442E0B-4E46-EF61-0FB8-6454025F07B7}"/>
              </a:ext>
            </a:extLst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18781579" y="21891933"/>
            <a:ext cx="1048053" cy="1406487"/>
          </a:xfrm>
          <a:prstGeom prst="rect">
            <a:avLst/>
          </a:prstGeom>
        </p:spPr>
      </p:pic>
      <p:pic>
        <p:nvPicPr>
          <p:cNvPr id="168" name="Grafik 167" descr="Ein Bild, das Schrift, Typografie, Design, Kalligrafie enthält.&#10;&#10;KI-generierte Inhalte können fehlerhaft sein.">
            <a:extLst>
              <a:ext uri="{FF2B5EF4-FFF2-40B4-BE49-F238E27FC236}">
                <a16:creationId xmlns:a16="http://schemas.microsoft.com/office/drawing/2014/main" id="{1EB08ABF-F59E-D29E-CC25-A1381C8535A7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8957026" y="23365585"/>
            <a:ext cx="747086" cy="371315"/>
          </a:xfrm>
          <a:prstGeom prst="rect">
            <a:avLst/>
          </a:prstGeom>
        </p:spPr>
      </p:pic>
      <p:pic>
        <p:nvPicPr>
          <p:cNvPr id="169" name="Grafik 168" descr="Ein Bild, das Schrift, Typografie, Kalligrafie, weiß enthält.&#10;&#10;KI-generierte Inhalte können fehlerhaft sein.">
            <a:extLst>
              <a:ext uri="{FF2B5EF4-FFF2-40B4-BE49-F238E27FC236}">
                <a16:creationId xmlns:a16="http://schemas.microsoft.com/office/drawing/2014/main" id="{6B8E0A35-4B64-D34D-70FF-9DFF2434A676}"/>
              </a:ext>
            </a:extLst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20331409" y="23333994"/>
            <a:ext cx="2981223" cy="384578"/>
          </a:xfrm>
          <a:prstGeom prst="rect">
            <a:avLst/>
          </a:prstGeom>
        </p:spPr>
      </p:pic>
      <p:sp>
        <p:nvSpPr>
          <p:cNvPr id="171" name="Textfeld 170">
            <a:extLst>
              <a:ext uri="{FF2B5EF4-FFF2-40B4-BE49-F238E27FC236}">
                <a16:creationId xmlns:a16="http://schemas.microsoft.com/office/drawing/2014/main" id="{0D797AA3-86F7-5B85-43DE-6D6698999925}"/>
              </a:ext>
            </a:extLst>
          </p:cNvPr>
          <p:cNvSpPr txBox="1"/>
          <p:nvPr/>
        </p:nvSpPr>
        <p:spPr>
          <a:xfrm>
            <a:off x="19949264" y="22397093"/>
            <a:ext cx="44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vs.</a:t>
            </a:r>
          </a:p>
        </p:txBody>
      </p:sp>
      <p:pic>
        <p:nvPicPr>
          <p:cNvPr id="178" name="Grafik 177" descr="Ein Bild, das Diagramm enthält.&#10;&#10;KI-generierte Inhalte können fehlerhaft sein.">
            <a:extLst>
              <a:ext uri="{FF2B5EF4-FFF2-40B4-BE49-F238E27FC236}">
                <a16:creationId xmlns:a16="http://schemas.microsoft.com/office/drawing/2014/main" id="{3DDE2853-5C83-2CFD-0AA4-B192C021D3DB}"/>
              </a:ext>
            </a:extLst>
      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6687884" y="24905559"/>
            <a:ext cx="6104175" cy="1564370"/>
          </a:xfrm>
          <a:prstGeom prst="rect">
            <a:avLst/>
          </a:prstGeom>
        </p:spPr>
      </p:pic>
      <p:pic>
        <p:nvPicPr>
          <p:cNvPr id="179" name="Grafik 178">
            <a:extLst>
              <a:ext uri="{FF2B5EF4-FFF2-40B4-BE49-F238E27FC236}">
                <a16:creationId xmlns:a16="http://schemas.microsoft.com/office/drawing/2014/main" id="{4609C2C1-8808-875C-2815-A245F429A203}"/>
              </a:ext>
            </a:extLst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16416831" y="18354297"/>
            <a:ext cx="12469211" cy="2880387"/>
          </a:xfrm>
          <a:prstGeom prst="rect">
            <a:avLst/>
          </a:prstGeom>
        </p:spPr>
      </p:pic>
      <p:pic>
        <p:nvPicPr>
          <p:cNvPr id="181" name="Grafik 180" descr="Ein Bild, das Schrift, Typografie, Kalligrafie, weiß enthält.&#10;&#10;KI-generierte Inhalte können fehlerhaft sein.">
            <a:extLst>
              <a:ext uri="{FF2B5EF4-FFF2-40B4-BE49-F238E27FC236}">
                <a16:creationId xmlns:a16="http://schemas.microsoft.com/office/drawing/2014/main" id="{4DA9C4B6-C147-649F-42CD-4ED5349ABACD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6756143" y="24257878"/>
            <a:ext cx="2448426" cy="339107"/>
          </a:xfrm>
          <a:prstGeom prst="rect">
            <a:avLst/>
          </a:prstGeom>
        </p:spPr>
      </p:pic>
      <p:sp>
        <p:nvSpPr>
          <p:cNvPr id="182" name="Textfeld 181">
            <a:extLst>
              <a:ext uri="{FF2B5EF4-FFF2-40B4-BE49-F238E27FC236}">
                <a16:creationId xmlns:a16="http://schemas.microsoft.com/office/drawing/2014/main" id="{27CDC45E-358A-5D44-B376-2ED8E3EBE442}"/>
              </a:ext>
            </a:extLst>
          </p:cNvPr>
          <p:cNvSpPr txBox="1"/>
          <p:nvPr/>
        </p:nvSpPr>
        <p:spPr>
          <a:xfrm>
            <a:off x="18323053" y="28362893"/>
            <a:ext cx="7306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Solving </a:t>
            </a:r>
            <a:r>
              <a:rPr lang="en-GB" sz="3200" b="1" noProof="0" dirty="0" err="1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GB" sz="3200" b="1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standard eigenvalue problem</a:t>
            </a:r>
            <a:endParaRPr lang="en-GB" sz="2400" b="1" noProof="0" dirty="0">
              <a:solidFill>
                <a:srgbClr val="2659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ACADC57-CEA5-0E5B-6136-7B664B4DD832}"/>
                  </a:ext>
                </a:extLst>
              </p:cNvPr>
              <p:cNvSpPr txBox="1"/>
              <p:nvPr/>
            </p:nvSpPr>
            <p:spPr>
              <a:xfrm>
                <a:off x="4050299" y="12684093"/>
                <a:ext cx="44720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ACADC57-CEA5-0E5B-6136-7B664B4DD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299" y="12684093"/>
                <a:ext cx="447202" cy="400110"/>
              </a:xfrm>
              <a:prstGeom prst="rect">
                <a:avLst/>
              </a:prstGeom>
              <a:blipFill>
                <a:blip r:embed="rId6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Grafik 51" descr="Ein Bild, das Schrift, Handschrift, Typografie, Kalligrafie enthält.&#10;&#10;KI-generierte Inhalte können fehlerhaft sein.">
            <a:extLst>
              <a:ext uri="{FF2B5EF4-FFF2-40B4-BE49-F238E27FC236}">
                <a16:creationId xmlns:a16="http://schemas.microsoft.com/office/drawing/2014/main" id="{F51265D0-082B-52FC-E690-824EE34ADC71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4459205" y="12639066"/>
            <a:ext cx="4289461" cy="54047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63AD6207-A4CE-578F-003A-2BCC44163001}"/>
                  </a:ext>
                </a:extLst>
              </p:cNvPr>
              <p:cNvSpPr txBox="1"/>
              <p:nvPr/>
            </p:nvSpPr>
            <p:spPr>
              <a:xfrm>
                <a:off x="4050300" y="12121097"/>
                <a:ext cx="44720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GB" sz="2000" noProof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63AD6207-A4CE-578F-003A-2BCC44163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300" y="12121097"/>
                <a:ext cx="447202" cy="400110"/>
              </a:xfrm>
              <a:prstGeom prst="rect">
                <a:avLst/>
              </a:prstGeom>
              <a:blipFill>
                <a:blip r:embed="rId6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" name="Grafik 50" descr="Ein Bild, das Schrift, Typografie, Kalligrafie, Handschrift enthält.&#10;&#10;KI-generierte Inhalte können fehlerhaft sein.">
            <a:extLst>
              <a:ext uri="{FF2B5EF4-FFF2-40B4-BE49-F238E27FC236}">
                <a16:creationId xmlns:a16="http://schemas.microsoft.com/office/drawing/2014/main" id="{F02D4489-A587-BE14-23D6-07CDF3F912C1}"/>
              </a:ext>
            </a:extLst>
      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4493347" y="12141995"/>
            <a:ext cx="2074384" cy="416951"/>
          </a:xfrm>
          <a:prstGeom prst="rect">
            <a:avLst/>
          </a:prstGeom>
        </p:spPr>
      </p:pic>
      <p:cxnSp>
        <p:nvCxnSpPr>
          <p:cNvPr id="1035" name="Gerade Verbindung 1034">
            <a:extLst>
              <a:ext uri="{FF2B5EF4-FFF2-40B4-BE49-F238E27FC236}">
                <a16:creationId xmlns:a16="http://schemas.microsoft.com/office/drawing/2014/main" id="{5E0F7BC3-701F-97E8-94BF-C68AABAC9A3C}"/>
              </a:ext>
            </a:extLst>
          </p:cNvPr>
          <p:cNvCxnSpPr>
            <a:cxnSpLocks/>
          </p:cNvCxnSpPr>
          <p:nvPr/>
        </p:nvCxnSpPr>
        <p:spPr>
          <a:xfrm>
            <a:off x="917606" y="5779859"/>
            <a:ext cx="28417568" cy="0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Gerade Verbindung 1040">
            <a:extLst>
              <a:ext uri="{FF2B5EF4-FFF2-40B4-BE49-F238E27FC236}">
                <a16:creationId xmlns:a16="http://schemas.microsoft.com/office/drawing/2014/main" id="{03EBDC98-33E0-77D7-03BA-812D6AC4521F}"/>
              </a:ext>
            </a:extLst>
          </p:cNvPr>
          <p:cNvCxnSpPr>
            <a:cxnSpLocks/>
          </p:cNvCxnSpPr>
          <p:nvPr/>
        </p:nvCxnSpPr>
        <p:spPr>
          <a:xfrm>
            <a:off x="940038" y="17567676"/>
            <a:ext cx="28417568" cy="0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Gerade Verbindung 1041">
            <a:extLst>
              <a:ext uri="{FF2B5EF4-FFF2-40B4-BE49-F238E27FC236}">
                <a16:creationId xmlns:a16="http://schemas.microsoft.com/office/drawing/2014/main" id="{B602BD35-A3D2-A617-091F-24DAC7DE1D4D}"/>
              </a:ext>
            </a:extLst>
          </p:cNvPr>
          <p:cNvCxnSpPr>
            <a:cxnSpLocks/>
          </p:cNvCxnSpPr>
          <p:nvPr/>
        </p:nvCxnSpPr>
        <p:spPr>
          <a:xfrm flipV="1">
            <a:off x="11167906" y="5786787"/>
            <a:ext cx="0" cy="10175866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Gerade Verbindung 1046">
            <a:extLst>
              <a:ext uri="{FF2B5EF4-FFF2-40B4-BE49-F238E27FC236}">
                <a16:creationId xmlns:a16="http://schemas.microsoft.com/office/drawing/2014/main" id="{CE90E638-196F-9D89-07DB-F1D78A3DD2B3}"/>
              </a:ext>
            </a:extLst>
          </p:cNvPr>
          <p:cNvCxnSpPr>
            <a:cxnSpLocks/>
          </p:cNvCxnSpPr>
          <p:nvPr/>
        </p:nvCxnSpPr>
        <p:spPr>
          <a:xfrm flipV="1">
            <a:off x="20149340" y="5786787"/>
            <a:ext cx="0" cy="10175866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Gerade Verbindung 1047">
            <a:extLst>
              <a:ext uri="{FF2B5EF4-FFF2-40B4-BE49-F238E27FC236}">
                <a16:creationId xmlns:a16="http://schemas.microsoft.com/office/drawing/2014/main" id="{222C170F-C0C2-A71A-2B3B-C00BD72EF1BA}"/>
              </a:ext>
            </a:extLst>
          </p:cNvPr>
          <p:cNvCxnSpPr>
            <a:cxnSpLocks/>
          </p:cNvCxnSpPr>
          <p:nvPr/>
        </p:nvCxnSpPr>
        <p:spPr>
          <a:xfrm flipV="1">
            <a:off x="14352413" y="17550581"/>
            <a:ext cx="0" cy="21202724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Gerade Verbindung 1049">
            <a:extLst>
              <a:ext uri="{FF2B5EF4-FFF2-40B4-BE49-F238E27FC236}">
                <a16:creationId xmlns:a16="http://schemas.microsoft.com/office/drawing/2014/main" id="{95E5936A-C27E-C4C0-F2C1-76BADDD2B90F}"/>
              </a:ext>
            </a:extLst>
          </p:cNvPr>
          <p:cNvCxnSpPr>
            <a:cxnSpLocks/>
          </p:cNvCxnSpPr>
          <p:nvPr/>
        </p:nvCxnSpPr>
        <p:spPr>
          <a:xfrm flipH="1">
            <a:off x="14331787" y="28298281"/>
            <a:ext cx="15013429" cy="0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Textfeld 1053">
            <a:extLst>
              <a:ext uri="{FF2B5EF4-FFF2-40B4-BE49-F238E27FC236}">
                <a16:creationId xmlns:a16="http://schemas.microsoft.com/office/drawing/2014/main" id="{4B7C2069-7E7A-D39C-3C09-E09E21E8E9E8}"/>
              </a:ext>
            </a:extLst>
          </p:cNvPr>
          <p:cNvSpPr txBox="1"/>
          <p:nvPr/>
        </p:nvSpPr>
        <p:spPr>
          <a:xfrm>
            <a:off x="5780064" y="17676149"/>
            <a:ext cx="3745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noProof="0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Ground state ansatz</a:t>
            </a:r>
          </a:p>
        </p:txBody>
      </p:sp>
      <p:sp>
        <p:nvSpPr>
          <p:cNvPr id="1055" name="Textfeld 1054">
            <a:extLst>
              <a:ext uri="{FF2B5EF4-FFF2-40B4-BE49-F238E27FC236}">
                <a16:creationId xmlns:a16="http://schemas.microsoft.com/office/drawing/2014/main" id="{EB839F56-302F-AAA9-6E38-ABAD8DEE2CC2}"/>
              </a:ext>
            </a:extLst>
          </p:cNvPr>
          <p:cNvSpPr txBox="1"/>
          <p:nvPr/>
        </p:nvSpPr>
        <p:spPr>
          <a:xfrm>
            <a:off x="1388212" y="23137361"/>
            <a:ext cx="2543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Yang-Baxter move</a:t>
            </a:r>
          </a:p>
        </p:txBody>
      </p:sp>
      <p:cxnSp>
        <p:nvCxnSpPr>
          <p:cNvPr id="1058" name="Gerade Verbindung 1057">
            <a:extLst>
              <a:ext uri="{FF2B5EF4-FFF2-40B4-BE49-F238E27FC236}">
                <a16:creationId xmlns:a16="http://schemas.microsoft.com/office/drawing/2014/main" id="{E5780A9A-BDA9-A1F3-6C94-11A8B33A0D5C}"/>
              </a:ext>
            </a:extLst>
          </p:cNvPr>
          <p:cNvCxnSpPr>
            <a:cxnSpLocks/>
          </p:cNvCxnSpPr>
          <p:nvPr/>
        </p:nvCxnSpPr>
        <p:spPr>
          <a:xfrm flipH="1">
            <a:off x="900707" y="24507828"/>
            <a:ext cx="13437763" cy="0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Rechteck 1065">
            <a:extLst>
              <a:ext uri="{FF2B5EF4-FFF2-40B4-BE49-F238E27FC236}">
                <a16:creationId xmlns:a16="http://schemas.microsoft.com/office/drawing/2014/main" id="{3224618C-4A5B-723E-48FF-E9C298065DF5}"/>
              </a:ext>
            </a:extLst>
          </p:cNvPr>
          <p:cNvSpPr/>
          <p:nvPr/>
        </p:nvSpPr>
        <p:spPr>
          <a:xfrm>
            <a:off x="917606" y="39405400"/>
            <a:ext cx="28440000" cy="2664748"/>
          </a:xfrm>
          <a:prstGeom prst="rect">
            <a:avLst/>
          </a:prstGeom>
          <a:solidFill>
            <a:schemeClr val="bg1"/>
          </a:solidFill>
          <a:ln w="76200">
            <a:solidFill>
              <a:srgbClr val="2659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7" name="Textfeld 1066">
            <a:extLst>
              <a:ext uri="{FF2B5EF4-FFF2-40B4-BE49-F238E27FC236}">
                <a16:creationId xmlns:a16="http://schemas.microsoft.com/office/drawing/2014/main" id="{C2909646-77BB-CE8D-9621-911E348C005B}"/>
              </a:ext>
            </a:extLst>
          </p:cNvPr>
          <p:cNvSpPr txBox="1"/>
          <p:nvPr/>
        </p:nvSpPr>
        <p:spPr>
          <a:xfrm>
            <a:off x="13515136" y="39470228"/>
            <a:ext cx="3200075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100" b="1" dirty="0">
                <a:solidFill>
                  <a:srgbClr val="2659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GB" sz="5100" b="1" noProof="0" dirty="0">
              <a:solidFill>
                <a:srgbClr val="2659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68" name="Gerade Verbindung 1067">
            <a:extLst>
              <a:ext uri="{FF2B5EF4-FFF2-40B4-BE49-F238E27FC236}">
                <a16:creationId xmlns:a16="http://schemas.microsoft.com/office/drawing/2014/main" id="{E1AF98C4-5985-E8D1-4E03-84AD437C23FE}"/>
              </a:ext>
            </a:extLst>
          </p:cNvPr>
          <p:cNvCxnSpPr>
            <a:cxnSpLocks/>
          </p:cNvCxnSpPr>
          <p:nvPr/>
        </p:nvCxnSpPr>
        <p:spPr>
          <a:xfrm>
            <a:off x="917606" y="40403520"/>
            <a:ext cx="28417568" cy="0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0" name="Textfeld 1069">
            <a:extLst>
              <a:ext uri="{FF2B5EF4-FFF2-40B4-BE49-F238E27FC236}">
                <a16:creationId xmlns:a16="http://schemas.microsoft.com/office/drawing/2014/main" id="{DC24C1A6-CD8B-ADB0-5677-21B9BDC9569E}"/>
              </a:ext>
            </a:extLst>
          </p:cNvPr>
          <p:cNvSpPr txBox="1"/>
          <p:nvPr/>
        </p:nvSpPr>
        <p:spPr>
          <a:xfrm>
            <a:off x="15343774" y="40437729"/>
            <a:ext cx="13884938" cy="14884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en-GB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Haegeman</a:t>
            </a: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al., </a:t>
            </a:r>
            <a:r>
              <a:rPr lang="en-GB" sz="2100" u="sng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Post-matrix product state methods: To tangent space and beyond</a:t>
            </a: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2013</a:t>
            </a:r>
          </a:p>
          <a:p>
            <a:pPr>
              <a:lnSpc>
                <a:spcPct val="150000"/>
              </a:lnSpc>
            </a:pP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Van Damme et al., </a:t>
            </a:r>
            <a:r>
              <a:rPr lang="en-GB" sz="2100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Efficient matrix product state methods for extracting spectral information on rings and cylinders</a:t>
            </a: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2021</a:t>
            </a:r>
          </a:p>
          <a:p>
            <a:pPr>
              <a:lnSpc>
                <a:spcPct val="150000"/>
              </a:lnSpc>
            </a:pPr>
            <a:r>
              <a:rPr lang="en-GB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Wittmann, </a:t>
            </a:r>
            <a:r>
              <a:rPr lang="en-GB" sz="2100" b="1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https://github.com/lukasjwittmann/iso_tns-public</a:t>
            </a:r>
            <a:r>
              <a:rPr lang="en-GB" sz="2100" b="1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GB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2025</a:t>
            </a:r>
          </a:p>
        </p:txBody>
      </p:sp>
      <p:sp>
        <p:nvSpPr>
          <p:cNvPr id="1065" name="Textfeld 1064">
            <a:extLst>
              <a:ext uri="{FF2B5EF4-FFF2-40B4-BE49-F238E27FC236}">
                <a16:creationId xmlns:a16="http://schemas.microsoft.com/office/drawing/2014/main" id="{6198A074-EC65-4249-4E7F-4B7D6AF22FDC}"/>
              </a:ext>
            </a:extLst>
          </p:cNvPr>
          <p:cNvSpPr txBox="1"/>
          <p:nvPr/>
        </p:nvSpPr>
        <p:spPr>
          <a:xfrm>
            <a:off x="1116698" y="40433652"/>
            <a:ext cx="13803634" cy="14884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1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GB" sz="21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Zaletel and Pollmann, </a:t>
            </a:r>
            <a:r>
              <a:rPr lang="en-GB" sz="2100" noProof="0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Isometric tensor network states in two dimensions</a:t>
            </a:r>
            <a:r>
              <a:rPr lang="en-GB" sz="21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2020</a:t>
            </a:r>
          </a:p>
          <a:p>
            <a:pPr>
              <a:lnSpc>
                <a:spcPct val="150000"/>
              </a:lnSpc>
            </a:pP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Lin et al., </a:t>
            </a:r>
            <a:r>
              <a:rPr lang="en-GB" sz="2100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Efficient simulation of dynamics in two-dimensional quantum spin systems with isometric tensor networks</a:t>
            </a: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2022</a:t>
            </a:r>
            <a:endParaRPr lang="en-GB" sz="21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en-GB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Sappler</a:t>
            </a: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al.,</a:t>
            </a:r>
            <a:r>
              <a:rPr lang="en-GB" sz="2100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100" dirty="0">
                <a:solidFill>
                  <a:srgbClr val="0432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Diagonal Isometric Form for Tensor Product States in Two Dimensions</a:t>
            </a:r>
            <a:r>
              <a:rPr lang="en-GB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2025</a:t>
            </a:r>
          </a:p>
        </p:txBody>
      </p:sp>
      <p:pic>
        <p:nvPicPr>
          <p:cNvPr id="1072" name="Grafik 1071" descr="Ein Bild, das Design enthält.&#10;&#10;KI-generierte Inhalte können fehlerhaft sein.">
            <a:extLst>
              <a:ext uri="{FF2B5EF4-FFF2-40B4-BE49-F238E27FC236}">
                <a16:creationId xmlns:a16="http://schemas.microsoft.com/office/drawing/2014/main" id="{7BF08E4F-71D1-3C44-B18F-9EC6745CBAB2}"/>
              </a:ext>
            </a:extLst>
      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4103502" y="22717515"/>
            <a:ext cx="1590238" cy="1402326"/>
          </a:xfrm>
          <a:prstGeom prst="rect">
            <a:avLst/>
          </a:prstGeom>
        </p:spPr>
      </p:pic>
      <p:pic>
        <p:nvPicPr>
          <p:cNvPr id="1073" name="Grafik 1072">
            <a:extLst>
              <a:ext uri="{FF2B5EF4-FFF2-40B4-BE49-F238E27FC236}">
                <a16:creationId xmlns:a16="http://schemas.microsoft.com/office/drawing/2014/main" id="{4EDAD3A4-F8A7-D56D-6DA6-358F536E143B}"/>
              </a:ext>
            </a:extLst>
      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5686385" y="22715841"/>
            <a:ext cx="2164970" cy="1404000"/>
          </a:xfrm>
          <a:prstGeom prst="rect">
            <a:avLst/>
          </a:prstGeom>
        </p:spPr>
      </p:pic>
      <p:pic>
        <p:nvPicPr>
          <p:cNvPr id="1074" name="Grafik 1073">
            <a:extLst>
              <a:ext uri="{FF2B5EF4-FFF2-40B4-BE49-F238E27FC236}">
                <a16:creationId xmlns:a16="http://schemas.microsoft.com/office/drawing/2014/main" id="{AF0E480D-64DD-99AE-B5A8-FA4CE6B699EC}"/>
              </a:ext>
            </a:extLst>
      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942798" y="22655278"/>
            <a:ext cx="1884168" cy="1404000"/>
          </a:xfrm>
          <a:prstGeom prst="rect">
            <a:avLst/>
          </a:prstGeom>
        </p:spPr>
      </p:pic>
      <p:pic>
        <p:nvPicPr>
          <p:cNvPr id="1077" name="Grafik 1076">
            <a:extLst>
              <a:ext uri="{FF2B5EF4-FFF2-40B4-BE49-F238E27FC236}">
                <a16:creationId xmlns:a16="http://schemas.microsoft.com/office/drawing/2014/main" id="{D6367E5B-D68D-370C-747D-173B3E309EA2}"/>
              </a:ext>
            </a:extLst>
          </p:cNvPr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9818418" y="22611935"/>
            <a:ext cx="2625085" cy="1386000"/>
          </a:xfrm>
          <a:prstGeom prst="rect">
            <a:avLst/>
          </a:prstGeom>
        </p:spPr>
      </p:pic>
      <p:pic>
        <p:nvPicPr>
          <p:cNvPr id="1078" name="Grafik 1077">
            <a:extLst>
              <a:ext uri="{FF2B5EF4-FFF2-40B4-BE49-F238E27FC236}">
                <a16:creationId xmlns:a16="http://schemas.microsoft.com/office/drawing/2014/main" id="{E262239B-DBA7-2B75-33D3-E079F96E4C0B}"/>
              </a:ext>
            </a:extLst>
          </p:cNvPr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12474098" y="22594796"/>
            <a:ext cx="1014641" cy="1386000"/>
          </a:xfrm>
          <a:prstGeom prst="rect">
            <a:avLst/>
          </a:prstGeom>
        </p:spPr>
      </p:pic>
      <p:cxnSp>
        <p:nvCxnSpPr>
          <p:cNvPr id="1079" name="Gerade Verbindung 1078">
            <a:extLst>
              <a:ext uri="{FF2B5EF4-FFF2-40B4-BE49-F238E27FC236}">
                <a16:creationId xmlns:a16="http://schemas.microsoft.com/office/drawing/2014/main" id="{0444D7EB-9515-AD64-AEE9-78D36763B4A4}"/>
              </a:ext>
            </a:extLst>
          </p:cNvPr>
          <p:cNvCxnSpPr>
            <a:cxnSpLocks/>
          </p:cNvCxnSpPr>
          <p:nvPr/>
        </p:nvCxnSpPr>
        <p:spPr>
          <a:xfrm flipH="1">
            <a:off x="931418" y="30482801"/>
            <a:ext cx="13437763" cy="0"/>
          </a:xfrm>
          <a:prstGeom prst="line">
            <a:avLst/>
          </a:prstGeom>
          <a:ln w="76200">
            <a:solidFill>
              <a:srgbClr val="265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0" name="Grafik 1079">
            <a:extLst>
              <a:ext uri="{FF2B5EF4-FFF2-40B4-BE49-F238E27FC236}">
                <a16:creationId xmlns:a16="http://schemas.microsoft.com/office/drawing/2014/main" id="{028A2DBD-F437-D51E-EE7D-095B7C04F32A}"/>
              </a:ext>
            </a:extLst>
      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21446225" y="28985208"/>
            <a:ext cx="7772400" cy="9172921"/>
          </a:xfrm>
          <a:prstGeom prst="rect">
            <a:avLst/>
          </a:prstGeom>
        </p:spPr>
      </p:pic>
      <p:sp>
        <p:nvSpPr>
          <p:cNvPr id="1081" name="Textfeld 1080">
            <a:extLst>
              <a:ext uri="{FF2B5EF4-FFF2-40B4-BE49-F238E27FC236}">
                <a16:creationId xmlns:a16="http://schemas.microsoft.com/office/drawing/2014/main" id="{36BA1F38-D83E-B703-3A79-C1B757B7F941}"/>
              </a:ext>
            </a:extLst>
          </p:cNvPr>
          <p:cNvSpPr txBox="1"/>
          <p:nvPr/>
        </p:nvSpPr>
        <p:spPr>
          <a:xfrm>
            <a:off x="21650126" y="38179787"/>
            <a:ext cx="6853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Standing waves of </a:t>
            </a:r>
            <a:r>
              <a:rPr lang="en-GB" sz="20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flips in paramagnetic phase of TFI model</a:t>
            </a:r>
            <a:endParaRPr lang="en-GB" sz="16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8" name="Grafik 37" descr="Ein Bild, das Schrift, Handschrift, Kalligrafie, weiß enthält.&#10;&#10;KI-generierte Inhalte können fehlerhaft sein.">
            <a:extLst>
              <a:ext uri="{FF2B5EF4-FFF2-40B4-BE49-F238E27FC236}">
                <a16:creationId xmlns:a16="http://schemas.microsoft.com/office/drawing/2014/main" id="{B92C0BE8-8724-A522-8BBD-821E15BD8A93}"/>
              </a:ext>
            </a:extLst>
          </p:cNvPr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15947509" y="6492940"/>
            <a:ext cx="3758360" cy="484828"/>
          </a:xfrm>
          <a:prstGeom prst="rect">
            <a:avLst/>
          </a:prstGeom>
        </p:spPr>
      </p:pic>
      <p:sp>
        <p:nvSpPr>
          <p:cNvPr id="165" name="Textfeld 164">
            <a:extLst>
              <a:ext uri="{FF2B5EF4-FFF2-40B4-BE49-F238E27FC236}">
                <a16:creationId xmlns:a16="http://schemas.microsoft.com/office/drawing/2014/main" id="{1B4BC765-F7F5-BA71-BDD0-C74BDF36DBB2}"/>
              </a:ext>
            </a:extLst>
          </p:cNvPr>
          <p:cNvSpPr txBox="1"/>
          <p:nvPr/>
        </p:nvSpPr>
        <p:spPr>
          <a:xfrm>
            <a:off x="20698020" y="21520343"/>
            <a:ext cx="196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 zero modes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C481B91B-EAFD-E512-D106-D26E1C80B20F}"/>
              </a:ext>
            </a:extLst>
          </p:cNvPr>
          <p:cNvSpPr txBox="1"/>
          <p:nvPr/>
        </p:nvSpPr>
        <p:spPr>
          <a:xfrm>
            <a:off x="18681632" y="21520343"/>
            <a:ext cx="1232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roject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</a:p>
        </p:txBody>
      </p:sp>
    </p:spTree>
    <p:extLst>
      <p:ext uri="{BB962C8B-B14F-4D97-AF65-F5344CB8AC3E}">
        <p14:creationId xmlns:p14="http://schemas.microsoft.com/office/powerpoint/2010/main" val="453182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3" grpId="0"/>
      <p:bldP spid="61" grpId="0"/>
      <p:bldP spid="25" grpId="0"/>
      <p:bldP spid="31" grpId="0"/>
      <p:bldP spid="59" grpId="0"/>
      <p:bldP spid="163" grpId="0"/>
      <p:bldP spid="164" grpId="0"/>
      <p:bldP spid="182" grpId="0"/>
      <p:bldP spid="47" grpId="0"/>
      <p:bldP spid="46" grpId="0"/>
      <p:bldP spid="1055" grpId="0"/>
      <p:bldP spid="1081" grpId="0"/>
    </p:bld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247</Words>
  <Application>Microsoft Macintosh PowerPoint</Application>
  <PresentationFormat>Benutzerdefiniert</PresentationFormat>
  <Paragraphs>43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Lukas Wittmann</dc:creator>
  <cp:lastModifiedBy>Lukas Wittmann</cp:lastModifiedBy>
  <cp:revision>50</cp:revision>
  <dcterms:created xsi:type="dcterms:W3CDTF">2025-10-08T10:14:04Z</dcterms:created>
  <dcterms:modified xsi:type="dcterms:W3CDTF">2026-01-08T13:33:21Z</dcterms:modified>
</cp:coreProperties>
</file>